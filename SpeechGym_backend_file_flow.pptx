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3f16cbb0b93f4bce" Type="http://schemas.openxmlformats.org/officeDocument/2006/relationships/image" Target="../media/image2.svg"/><Relationship Id="rId3" Type="http://schemas.openxmlformats.org/officeDocument/2006/relationships/image" Target="../media/image1.png"/><Relationship Id="R9ba7908199a74969" Type="http://schemas.openxmlformats.org/officeDocument/2006/relationships/image" Target="../media/image3.svg"/><Relationship Id="Re6609028ec244b3c" Type="http://schemas.openxmlformats.org/officeDocument/2006/relationships/image" Target="../media/image4.svg"/><Relationship Id="R295b4bc7711a4a7b" Type="http://schemas.openxmlformats.org/officeDocument/2006/relationships/image" Target="../media/image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ef0c2aad9bf54a50" Type="http://schemas.openxmlformats.org/officeDocument/2006/relationships/image" Target="../media/image5.svg"/><Relationship Id="rId3" Type="http://schemas.openxmlformats.org/officeDocument/2006/relationships/image" Target="../media/image1.png"/><Relationship Id="Rea9a0933a03b4383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e8d4cc488f244340" Type="http://schemas.openxmlformats.org/officeDocument/2006/relationships/image" Target="../media/image8.svg"/><Relationship Id="R52251d24ea074df0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AFEC4ED1-E385-49B2-A8AB-4CF1340032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B32EF7F-873F-4C60-A5BE-7BE7F90BA93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9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SPEECHGYM BACKEND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A6AC8AA-6A79-4CAD-B51B-0154A0E2D436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7239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51B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B24"/>
                </a:solidFill>
                <a:latin typeface="Aptos Display"/>
                <a:ea typeface="Aptos Display"/>
                <a:cs typeface="Aptos Display"/>
              </a:rPr>
              <a:t>Путь аудиофайла через backend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6AAAEF5-3601-49F4-B563-0A162D3E146B}"/>
              </a:ext>
            </a:extLst>
          </p:cNvPr>
          <p:cNvSpPr>
            <a:spLocks noGrp="1"/>
          </p:cNvSpPr>
          <p:nvPr/>
        </p:nvSpPr>
        <p:spPr>
          <a:xfrm>
            <a:off x="628650" y="1352550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Frontend отправляет файл, а Spring Boot проверяет пользователя, сохраняет аудио и готовит его к дальнейшей обработке.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D640FEB-2567-4918-923B-ECD0C89E8660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20955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F53D29F-EA35-4A46-971D-A6137F2B3EA1}"/>
              </a:ext>
            </a:extLst>
          </p:cNvPr>
          <p:cNvSpPr>
            <a:spLocks noGrp="1"/>
          </p:cNvSpPr>
          <p:nvPr/>
        </p:nvSpPr>
        <p:spPr>
          <a:xfrm>
            <a:off x="781050" y="2552700"/>
            <a:ext cx="457200" cy="4572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295b4bc7711a4a7b"/>
              </a:ext>
            </a:extLst>
          </a:blip>
          <a:stretch/>
        </p:blipFill>
        <p:spPr>
          <a:xfrm>
            <a:off x="895350" y="2667000"/>
            <a:ext cx="228600" cy="228600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22C973B-F5C7-48C0-885E-26FC53FFE55E}"/>
              </a:ext>
            </a:extLst>
          </p:cNvPr>
          <p:cNvSpPr>
            <a:spLocks noGrp="1"/>
          </p:cNvSpPr>
          <p:nvPr/>
        </p:nvSpPr>
        <p:spPr>
          <a:xfrm>
            <a:off x="1390650" y="25336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1">
                <a:solidFill>
                  <a:srgbClr val="151B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B24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3189B87-250C-4E7C-8CD2-509C30A9FF41}"/>
              </a:ext>
            </a:extLst>
          </p:cNvPr>
          <p:cNvSpPr>
            <a:spLocks noGrp="1"/>
          </p:cNvSpPr>
          <p:nvPr/>
        </p:nvSpPr>
        <p:spPr>
          <a:xfrm>
            <a:off x="1390650" y="2809875"/>
            <a:ext cx="1143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HTTP-запрос с аудиофайлом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30B215E-C037-4352-89DC-DBDD62895189}"/>
              </a:ext>
            </a:extLst>
          </p:cNvPr>
          <p:cNvSpPr>
            <a:spLocks noGrp="1"/>
          </p:cNvSpPr>
          <p:nvPr/>
        </p:nvSpPr>
        <p:spPr>
          <a:xfrm>
            <a:off x="2781300" y="2705100"/>
            <a:ext cx="323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1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1407DC0-ADA3-42AA-BA9E-B95D3CFA0456}"/>
              </a:ext>
            </a:extLst>
          </p:cNvPr>
          <p:cNvSpPr>
            <a:spLocks noGrp="1"/>
          </p:cNvSpPr>
          <p:nvPr/>
        </p:nvSpPr>
        <p:spPr>
          <a:xfrm>
            <a:off x="3124200" y="2362200"/>
            <a:ext cx="2476500" cy="1066800"/>
          </a:xfrm>
          <a:prstGeom prst="rect">
            <a:avLst/>
          </a:prstGeom>
          <a:solidFill>
            <a:srgbClr val="D9EEF4"/>
          </a:solidFill>
          <a:ln w="9525">
            <a:solidFill>
              <a:srgbClr val="D8D0C3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EBE5A80-C19B-4E41-88C0-128F822FAA81}"/>
              </a:ext>
            </a:extLst>
          </p:cNvPr>
          <p:cNvSpPr>
            <a:spLocks noGrp="1"/>
          </p:cNvSpPr>
          <p:nvPr/>
        </p:nvSpPr>
        <p:spPr>
          <a:xfrm>
            <a:off x="3295650" y="2552700"/>
            <a:ext cx="457200" cy="4572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3f16cbb0b93f4bce"/>
              </a:ext>
            </a:extLst>
          </a:blip>
          <a:stretch/>
        </p:blipFill>
        <p:spPr>
          <a:xfrm>
            <a:off x="3409950" y="2667000"/>
            <a:ext cx="228600" cy="228600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EDEBA15-4F67-44E4-B9BA-F010F005BEBF}"/>
              </a:ext>
            </a:extLst>
          </p:cNvPr>
          <p:cNvSpPr>
            <a:spLocks noGrp="1"/>
          </p:cNvSpPr>
          <p:nvPr/>
        </p:nvSpPr>
        <p:spPr>
          <a:xfrm>
            <a:off x="3905250" y="253365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1">
                <a:solidFill>
                  <a:srgbClr val="151B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B24"/>
                </a:solidFill>
                <a:latin typeface="Aptos"/>
                <a:ea typeface="Aptos"/>
                <a:cs typeface="Aptos"/>
              </a:rPr>
              <a:t>Spring Boot API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8584C83-B706-457E-B3B7-A57F0B23F78A}"/>
              </a:ext>
            </a:extLst>
          </p:cNvPr>
          <p:cNvSpPr>
            <a:spLocks noGrp="1"/>
          </p:cNvSpPr>
          <p:nvPr/>
        </p:nvSpPr>
        <p:spPr>
          <a:xfrm>
            <a:off x="3905250" y="2809875"/>
            <a:ext cx="1524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Принимает файл и управляет сценарием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36D7A6D-1C3A-4A63-A5AE-44D9F2544B46}"/>
              </a:ext>
            </a:extLst>
          </p:cNvPr>
          <p:cNvSpPr>
            <a:spLocks noGrp="1"/>
          </p:cNvSpPr>
          <p:nvPr/>
        </p:nvSpPr>
        <p:spPr>
          <a:xfrm>
            <a:off x="5676900" y="2705100"/>
            <a:ext cx="323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1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A900380-1C4B-480E-9247-445C6245955E}"/>
              </a:ext>
            </a:extLst>
          </p:cNvPr>
          <p:cNvSpPr>
            <a:spLocks noGrp="1"/>
          </p:cNvSpPr>
          <p:nvPr/>
        </p:nvSpPr>
        <p:spPr>
          <a:xfrm>
            <a:off x="6019800" y="2362200"/>
            <a:ext cx="2286000" cy="1066800"/>
          </a:xfrm>
          <a:prstGeom prst="rect">
            <a:avLst/>
          </a:prstGeom>
          <a:solidFill>
            <a:srgbClr val="FCECCF"/>
          </a:solidFill>
          <a:ln w="9525">
            <a:solidFill>
              <a:srgbClr val="D8D0C3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C9E68CFB-15C3-44B0-9818-5FB0196D01C9}"/>
              </a:ext>
            </a:extLst>
          </p:cNvPr>
          <p:cNvSpPr>
            <a:spLocks noGrp="1"/>
          </p:cNvSpPr>
          <p:nvPr/>
        </p:nvSpPr>
        <p:spPr>
          <a:xfrm>
            <a:off x="6191250" y="2552700"/>
            <a:ext cx="457200" cy="4572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9ba7908199a74969"/>
              </a:ext>
            </a:extLst>
          </a:blip>
          <a:stretch/>
        </p:blipFill>
        <p:spPr>
          <a:xfrm>
            <a:off x="6305550" y="2667000"/>
            <a:ext cx="228600" cy="228600"/>
          </a:xfrm>
          <a:prstGeom prst="rect">
            <a:avLst/>
          </a:prstGeom>
        </p:spPr>
      </p:pic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456E466-2C4F-40D9-AC0F-83A9ADE89DF5}"/>
              </a:ext>
            </a:extLst>
          </p:cNvPr>
          <p:cNvSpPr>
            <a:spLocks noGrp="1"/>
          </p:cNvSpPr>
          <p:nvPr/>
        </p:nvSpPr>
        <p:spPr>
          <a:xfrm>
            <a:off x="6800850" y="253365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1">
                <a:solidFill>
                  <a:srgbClr val="151B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B24"/>
                </a:solidFill>
                <a:latin typeface="Aptos"/>
                <a:ea typeface="Aptos"/>
                <a:cs typeface="Aptos"/>
              </a:rPr>
              <a:t>JWT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8DEC6FC-E49F-48F0-9099-1E6D10EC8E68}"/>
              </a:ext>
            </a:extLst>
          </p:cNvPr>
          <p:cNvSpPr>
            <a:spLocks noGrp="1"/>
          </p:cNvSpPr>
          <p:nvPr/>
        </p:nvSpPr>
        <p:spPr>
          <a:xfrm>
            <a:off x="6800850" y="2809875"/>
            <a:ext cx="1333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Проверка пользователя и прав на сессию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CA96E7D-3F4A-4322-BD2F-A486BD199EA4}"/>
              </a:ext>
            </a:extLst>
          </p:cNvPr>
          <p:cNvSpPr>
            <a:spLocks noGrp="1"/>
          </p:cNvSpPr>
          <p:nvPr/>
        </p:nvSpPr>
        <p:spPr>
          <a:xfrm>
            <a:off x="8382000" y="2705100"/>
            <a:ext cx="323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1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0AB621F5-A2FB-4022-B62D-44504CD8E2A6}"/>
              </a:ext>
            </a:extLst>
          </p:cNvPr>
          <p:cNvSpPr>
            <a:spLocks noGrp="1"/>
          </p:cNvSpPr>
          <p:nvPr/>
        </p:nvSpPr>
        <p:spPr>
          <a:xfrm>
            <a:off x="8724900" y="2362200"/>
            <a:ext cx="2476500" cy="1066800"/>
          </a:xfrm>
          <a:prstGeom prst="rect">
            <a:avLst/>
          </a:prstGeom>
          <a:solidFill>
            <a:srgbClr val="DFF3E8"/>
          </a:solidFill>
          <a:ln w="9525">
            <a:solidFill>
              <a:srgbClr val="D8D0C3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FE7E39EB-E23D-416B-B57E-4A7BCE571D8D}"/>
              </a:ext>
            </a:extLst>
          </p:cNvPr>
          <p:cNvSpPr>
            <a:spLocks noGrp="1"/>
          </p:cNvSpPr>
          <p:nvPr/>
        </p:nvSpPr>
        <p:spPr>
          <a:xfrm>
            <a:off x="8896350" y="2552700"/>
            <a:ext cx="457200" cy="4572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e6609028ec244b3c"/>
              </a:ext>
            </a:extLst>
          </a:blip>
          <a:stretch/>
        </p:blipFill>
        <p:spPr>
          <a:xfrm>
            <a:off x="9010650" y="2667000"/>
            <a:ext cx="228600" cy="228600"/>
          </a:xfrm>
          <a:prstGeom prst="rect">
            <a:avLst/>
          </a:prstGeom>
        </p:spPr>
      </p:pic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CD1891D-5E72-4953-9F43-56DC38C9D501}"/>
              </a:ext>
            </a:extLst>
          </p:cNvPr>
          <p:cNvSpPr>
            <a:spLocks noGrp="1"/>
          </p:cNvSpPr>
          <p:nvPr/>
        </p:nvSpPr>
        <p:spPr>
          <a:xfrm>
            <a:off x="9505950" y="253365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1">
                <a:solidFill>
                  <a:srgbClr val="151B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B24"/>
                </a:solidFill>
                <a:latin typeface="Aptos"/>
                <a:ea typeface="Aptos"/>
                <a:cs typeface="Aptos"/>
              </a:rPr>
              <a:t>MinIO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FA5DF53-6874-4CE9-9808-7F478D56FC35}"/>
              </a:ext>
            </a:extLst>
          </p:cNvPr>
          <p:cNvSpPr>
            <a:spLocks noGrp="1"/>
          </p:cNvSpPr>
          <p:nvPr/>
        </p:nvSpPr>
        <p:spPr>
          <a:xfrm>
            <a:off x="9505950" y="2809875"/>
            <a:ext cx="1524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Object storage для аудио и артефактов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08A9CECB-7D75-44C6-ABA4-BCAC22C7E73B}"/>
              </a:ext>
            </a:extLst>
          </p:cNvPr>
          <p:cNvSpPr>
            <a:spLocks noGrp="1"/>
          </p:cNvSpPr>
          <p:nvPr/>
        </p:nvSpPr>
        <p:spPr>
          <a:xfrm>
            <a:off x="1257300" y="4095750"/>
            <a:ext cx="9620250" cy="11430"/>
          </a:xfrm>
          <a:prstGeom prst="rect">
            <a:avLst/>
          </a:prstGeom>
          <a:solidFill>
            <a:srgbClr val="D8D0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AA723D01-266A-4429-A685-A1FEECFD7CFF}"/>
              </a:ext>
            </a:extLst>
          </p:cNvPr>
          <p:cNvSpPr>
            <a:spLocks noGrp="1"/>
          </p:cNvSpPr>
          <p:nvPr/>
        </p:nvSpPr>
        <p:spPr>
          <a:xfrm>
            <a:off x="1809750" y="4333875"/>
            <a:ext cx="8572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00" b="1">
                <a:solidFill>
                  <a:srgbClr val="151B2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1B24"/>
                </a:solidFill>
                <a:latin typeface="Aptos"/>
                <a:ea typeface="Aptos"/>
                <a:cs typeface="Aptos"/>
              </a:rPr>
              <a:t>После загрузки backend возвращает uploadId. Это идентификатор файла, по которому позже запускается анализ.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6FB2F54C-92DC-4F00-B51C-660EF8855F41}"/>
              </a:ext>
            </a:extLst>
          </p:cNvPr>
          <p:cNvSpPr>
            <a:spLocks noGrp="1"/>
          </p:cNvSpPr>
          <p:nvPr/>
        </p:nvSpPr>
        <p:spPr>
          <a:xfrm>
            <a:off x="876300" y="5381625"/>
            <a:ext cx="23431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1D94DDCF-DD54-4399-A709-7FF95AF0D6BE}"/>
              </a:ext>
            </a:extLst>
          </p:cNvPr>
          <p:cNvSpPr>
            <a:spLocks noGrp="1"/>
          </p:cNvSpPr>
          <p:nvPr/>
        </p:nvSpPr>
        <p:spPr>
          <a:xfrm>
            <a:off x="991894" y="5444601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176B87"/>
                </a:solidFill>
                <a:latin typeface="Aptos"/>
                <a:ea typeface="Aptos"/>
                <a:cs typeface="Aptos"/>
              </a:rPr>
              <a:t>Spring Boot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B7D57C8F-17C5-4679-9C25-89B0DAD04969}"/>
              </a:ext>
            </a:extLst>
          </p:cNvPr>
          <p:cNvSpPr>
            <a:spLocks noGrp="1"/>
          </p:cNvSpPr>
          <p:nvPr/>
        </p:nvSpPr>
        <p:spPr>
          <a:xfrm>
            <a:off x="983016" y="5666913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центральный</a:t>
            </a:r>
            <a:r>
              <a:rPr sz="938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backend-</a:t>
            </a:r>
            <a:r>
              <a:rPr sz="938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слой</a:t>
            </a:r>
            <a:r>
              <a:rPr sz="938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, </a:t>
            </a:r>
            <a:r>
              <a:rPr sz="938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который</a:t>
            </a:r>
            <a:r>
              <a:rPr sz="938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принимает</a:t>
            </a:r>
            <a:r>
              <a:rPr sz="938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HTTP-</a:t>
            </a:r>
            <a:r>
              <a:rPr sz="938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запросы</a:t>
            </a:r>
            <a:endParaRPr sz="938" b="0" dirty="0">
              <a:solidFill>
                <a:srgbClr val="66708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6C21B40E-75ED-4CE9-B069-E81654B1F38D}"/>
              </a:ext>
            </a:extLst>
          </p:cNvPr>
          <p:cNvSpPr>
            <a:spLocks noGrp="1"/>
          </p:cNvSpPr>
          <p:nvPr/>
        </p:nvSpPr>
        <p:spPr>
          <a:xfrm>
            <a:off x="3657600" y="5381625"/>
            <a:ext cx="23431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E808FA8A-547F-4DBF-8878-9A0A028C1805}"/>
              </a:ext>
            </a:extLst>
          </p:cNvPr>
          <p:cNvSpPr>
            <a:spLocks noGrp="1"/>
          </p:cNvSpPr>
          <p:nvPr/>
        </p:nvSpPr>
        <p:spPr>
          <a:xfrm>
            <a:off x="3773195" y="5391335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176B87"/>
                </a:solidFill>
                <a:latin typeface="Aptos"/>
                <a:ea typeface="Aptos"/>
                <a:cs typeface="Aptos"/>
              </a:rPr>
              <a:t>JWT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5AE614B4-A0E7-4F09-88AF-D6315BD2F86D}"/>
              </a:ext>
            </a:extLst>
          </p:cNvPr>
          <p:cNvSpPr>
            <a:spLocks noGrp="1"/>
          </p:cNvSpPr>
          <p:nvPr/>
        </p:nvSpPr>
        <p:spPr>
          <a:xfrm>
            <a:off x="3764317" y="5622524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токен</a:t>
            </a:r>
            <a:r>
              <a:rPr sz="938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авторизации</a:t>
            </a:r>
            <a:r>
              <a:rPr sz="938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: backend </a:t>
            </a:r>
            <a:r>
              <a:rPr sz="938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понимает</a:t>
            </a:r>
            <a:r>
              <a:rPr sz="938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, </a:t>
            </a:r>
            <a:r>
              <a:rPr sz="938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какой</a:t>
            </a:r>
            <a:r>
              <a:rPr sz="938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пользователь</a:t>
            </a:r>
            <a:r>
              <a:rPr sz="938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сделал</a:t>
            </a:r>
            <a:r>
              <a:rPr sz="938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запрос</a:t>
            </a:r>
            <a:endParaRPr sz="938" b="0" dirty="0">
              <a:solidFill>
                <a:srgbClr val="66708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403C5788-CF0F-434D-8D60-A78922D5604C}"/>
              </a:ext>
            </a:extLst>
          </p:cNvPr>
          <p:cNvSpPr>
            <a:spLocks noGrp="1"/>
          </p:cNvSpPr>
          <p:nvPr/>
        </p:nvSpPr>
        <p:spPr>
          <a:xfrm>
            <a:off x="6438900" y="5381625"/>
            <a:ext cx="23431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B751471B-4206-4CF1-8D00-18C89A8D26D9}"/>
              </a:ext>
            </a:extLst>
          </p:cNvPr>
          <p:cNvSpPr>
            <a:spLocks noGrp="1"/>
          </p:cNvSpPr>
          <p:nvPr/>
        </p:nvSpPr>
        <p:spPr>
          <a:xfrm>
            <a:off x="6554495" y="5382457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MinIO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471293DB-1645-4314-A0A4-099A36504F23}"/>
              </a:ext>
            </a:extLst>
          </p:cNvPr>
          <p:cNvSpPr>
            <a:spLocks noGrp="1"/>
          </p:cNvSpPr>
          <p:nvPr/>
        </p:nvSpPr>
        <p:spPr>
          <a:xfrm>
            <a:off x="6554494" y="5604769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object storage: </a:t>
            </a:r>
            <a:r>
              <a:rPr sz="938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отдельное</a:t>
            </a:r>
            <a:r>
              <a:rPr sz="938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хранилище</a:t>
            </a:r>
            <a:r>
              <a:rPr sz="938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для</a:t>
            </a:r>
            <a:r>
              <a:rPr sz="938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файлов</a:t>
            </a:r>
            <a:r>
              <a:rPr sz="938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, а </a:t>
            </a:r>
            <a:r>
              <a:rPr sz="938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не</a:t>
            </a:r>
            <a:r>
              <a:rPr sz="938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база</a:t>
            </a:r>
            <a:r>
              <a:rPr sz="938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данных</a:t>
            </a:r>
            <a:endParaRPr sz="938" b="0" dirty="0">
              <a:solidFill>
                <a:srgbClr val="66708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60FB8AFC-FF25-4ACD-A82C-6546850B1A52}"/>
              </a:ext>
            </a:extLst>
          </p:cNvPr>
          <p:cNvSpPr>
            <a:spLocks noGrp="1"/>
          </p:cNvSpPr>
          <p:nvPr/>
        </p:nvSpPr>
        <p:spPr>
          <a:xfrm>
            <a:off x="9220200" y="5381625"/>
            <a:ext cx="23431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FE670B9B-D12C-48D0-A6A4-F5749120660A}"/>
              </a:ext>
            </a:extLst>
          </p:cNvPr>
          <p:cNvSpPr>
            <a:spLocks noGrp="1"/>
          </p:cNvSpPr>
          <p:nvPr/>
        </p:nvSpPr>
        <p:spPr>
          <a:xfrm>
            <a:off x="9344672" y="5382457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176B87"/>
                </a:solidFill>
                <a:latin typeface="Aptos"/>
                <a:ea typeface="Aptos"/>
                <a:cs typeface="Aptos"/>
              </a:rPr>
              <a:t>Upload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BA72417A-F0A7-42A3-97BF-3F98936A1B49}"/>
              </a:ext>
            </a:extLst>
          </p:cNvPr>
          <p:cNvSpPr>
            <a:spLocks noGrp="1"/>
          </p:cNvSpPr>
          <p:nvPr/>
        </p:nvSpPr>
        <p:spPr>
          <a:xfrm>
            <a:off x="9326917" y="5693546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метаданные</a:t>
            </a:r>
            <a:r>
              <a:rPr sz="938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загруженного</a:t>
            </a:r>
            <a:r>
              <a:rPr sz="938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файла</a:t>
            </a:r>
            <a:r>
              <a:rPr sz="938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: </a:t>
            </a:r>
            <a:r>
              <a:rPr sz="938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имя</a:t>
            </a:r>
            <a:r>
              <a:rPr sz="938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, </a:t>
            </a:r>
            <a:r>
              <a:rPr sz="938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размер</a:t>
            </a:r>
            <a:r>
              <a:rPr sz="938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, </a:t>
            </a:r>
            <a:r>
              <a:rPr sz="938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тип</a:t>
            </a:r>
            <a:r>
              <a:rPr sz="938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и </a:t>
            </a:r>
            <a:r>
              <a:rPr sz="938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путь</a:t>
            </a:r>
            <a:r>
              <a:rPr sz="938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хранения</a:t>
            </a:r>
            <a:endParaRPr sz="938" b="0" dirty="0">
              <a:solidFill>
                <a:srgbClr val="66708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C4C12154-1D9A-493F-AA1A-A85DEAE601AD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514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 / 2</a:t>
            </a:r>
          </a:p>
        </p:txBody>
      </p:sp>
    </p:spTree>
    <p:extLst>
      <p:ext uri="{BB962C8B-B14F-4D97-AF65-F5344CB8AC3E}">
        <p14:creationId xmlns:p14="http://schemas.microsoft.com/office/powerpoint/2010/main" val="1906214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Прямоугольник 69">
            <a:extLst>
              <a:ext uri="{FF2B5EF4-FFF2-40B4-BE49-F238E27FC236}">
                <a16:creationId xmlns:a16="http://schemas.microsoft.com/office/drawing/2014/main" id="{0BC6F89D-73AD-4C09-A596-3BA060E16D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EAFE4CD-F81B-4310-A7F0-DF3C5F5D06A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900" b="1">
                <a:solidFill>
                  <a:srgbClr val="4FB3D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B3D9"/>
                </a:solidFill>
                <a:latin typeface="Aptos"/>
                <a:ea typeface="Aptos"/>
                <a:cs typeface="Aptos"/>
              </a:rPr>
              <a:t>ASYNC PROCESSING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7BCAA27-6F58-4891-8ABF-912187CC5A12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7239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Job, RabbitMQ и фоновая обработка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33C0ACF-A306-4A8C-A8E2-CF6D002355EE}"/>
              </a:ext>
            </a:extLst>
          </p:cNvPr>
          <p:cNvSpPr>
            <a:spLocks noGrp="1"/>
          </p:cNvSpPr>
          <p:nvPr/>
        </p:nvSpPr>
        <p:spPr>
          <a:xfrm>
            <a:off x="628650" y="1333500"/>
            <a:ext cx="79533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38" b="0">
                <a:solidFill>
                  <a:srgbClr val="B7C3CD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B7C3CD"/>
                </a:solidFill>
                <a:latin typeface="Aptos"/>
                <a:ea typeface="Aptos"/>
                <a:cs typeface="Aptos"/>
              </a:rPr>
              <a:t>Анализ не выполняется одним длинным запросом: backend создает задачу, кладет ее в очередь и показывает frontend понятный статус.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ACC47A9-D99F-49C3-A4D7-C90BB4034DD9}"/>
              </a:ext>
            </a:extLst>
          </p:cNvPr>
          <p:cNvSpPr>
            <a:spLocks noGrp="1"/>
          </p:cNvSpPr>
          <p:nvPr/>
        </p:nvSpPr>
        <p:spPr>
          <a:xfrm>
            <a:off x="609600" y="2238375"/>
            <a:ext cx="2266950" cy="1028700"/>
          </a:xfrm>
          <a:prstGeom prst="rect">
            <a:avLst/>
          </a:prstGeom>
          <a:solidFill>
            <a:srgbClr val="17232E"/>
          </a:solidFill>
          <a:ln w="9525">
            <a:solidFill>
              <a:srgbClr val="395062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590155A-02B6-460B-9A88-5CAF6AEF7789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400050" cy="400050"/>
          </a:xfrm>
          <a:prstGeom prst="rect">
            <a:avLst/>
          </a:prstGeom>
          <a:solidFill>
            <a:srgbClr val="4FB3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ef0c2aad9bf54a50"/>
              </a:ext>
            </a:extLst>
          </a:blip>
          <a:stretch/>
        </p:blipFill>
        <p:spPr>
          <a:xfrm>
            <a:off x="885825" y="2533650"/>
            <a:ext cx="190500" cy="190500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B308112-0EFA-46CB-8666-F47A688EBA1A}"/>
              </a:ext>
            </a:extLst>
          </p:cNvPr>
          <p:cNvSpPr>
            <a:spLocks noGrp="1"/>
          </p:cNvSpPr>
          <p:nvPr/>
        </p:nvSpPr>
        <p:spPr>
          <a:xfrm>
            <a:off x="1314450" y="2409825"/>
            <a:ext cx="1409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Создается Job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FC27627-CBFD-4DB3-8D37-E916C5F06C93}"/>
              </a:ext>
            </a:extLst>
          </p:cNvPr>
          <p:cNvSpPr>
            <a:spLocks noGrp="1"/>
          </p:cNvSpPr>
          <p:nvPr/>
        </p:nvSpPr>
        <p:spPr>
          <a:xfrm>
            <a:off x="1314450" y="2695575"/>
            <a:ext cx="14097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938" b="0">
                <a:solidFill>
                  <a:srgbClr val="B7C3C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7C3CD"/>
                </a:solidFill>
                <a:latin typeface="Aptos"/>
                <a:ea typeface="Aptos"/>
                <a:cs typeface="Aptos"/>
              </a:rPr>
              <a:t>Фоновая задача на обработку конкретного uploadId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CC17F8C-CE3F-4381-BAAE-9CC7B64CD310}"/>
              </a:ext>
            </a:extLst>
          </p:cNvPr>
          <p:cNvSpPr>
            <a:spLocks noGrp="1"/>
          </p:cNvSpPr>
          <p:nvPr/>
        </p:nvSpPr>
        <p:spPr>
          <a:xfrm>
            <a:off x="2952750" y="2581275"/>
            <a:ext cx="304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025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1D6AD94-B424-41FE-9E3F-DA1047D4D253}"/>
              </a:ext>
            </a:extLst>
          </p:cNvPr>
          <p:cNvSpPr>
            <a:spLocks noGrp="1"/>
          </p:cNvSpPr>
          <p:nvPr/>
        </p:nvSpPr>
        <p:spPr>
          <a:xfrm>
            <a:off x="3314700" y="2238375"/>
            <a:ext cx="2266950" cy="1028700"/>
          </a:xfrm>
          <a:prstGeom prst="rect">
            <a:avLst/>
          </a:prstGeom>
          <a:solidFill>
            <a:srgbClr val="17232E"/>
          </a:solidFill>
          <a:ln w="9525">
            <a:solidFill>
              <a:srgbClr val="395062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E8DABB0-DEED-4EEC-BBD7-5BC31147AF4C}"/>
              </a:ext>
            </a:extLst>
          </p:cNvPr>
          <p:cNvSpPr>
            <a:spLocks noGrp="1"/>
          </p:cNvSpPr>
          <p:nvPr/>
        </p:nvSpPr>
        <p:spPr>
          <a:xfrm>
            <a:off x="3486150" y="2428875"/>
            <a:ext cx="400050" cy="400050"/>
          </a:xfrm>
          <a:prstGeom prst="rect">
            <a:avLst/>
          </a:prstGeom>
          <a:solidFill>
            <a:srgbClr val="F2B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ea9a0933a03b4383"/>
              </a:ext>
            </a:extLst>
          </a:blip>
          <a:stretch/>
        </p:blipFill>
        <p:spPr>
          <a:xfrm>
            <a:off x="3590925" y="2533650"/>
            <a:ext cx="190500" cy="190500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F97825A-8175-4C3E-8959-9BC91EE0F6B7}"/>
              </a:ext>
            </a:extLst>
          </p:cNvPr>
          <p:cNvSpPr>
            <a:spLocks noGrp="1"/>
          </p:cNvSpPr>
          <p:nvPr/>
        </p:nvSpPr>
        <p:spPr>
          <a:xfrm>
            <a:off x="4019550" y="2409825"/>
            <a:ext cx="1409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RabbitMQ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17C0155-2C34-44C1-B41A-75E452AD3D63}"/>
              </a:ext>
            </a:extLst>
          </p:cNvPr>
          <p:cNvSpPr>
            <a:spLocks noGrp="1"/>
          </p:cNvSpPr>
          <p:nvPr/>
        </p:nvSpPr>
        <p:spPr>
          <a:xfrm>
            <a:off x="4019550" y="2695575"/>
            <a:ext cx="14097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938" b="0">
                <a:solidFill>
                  <a:srgbClr val="B7C3C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7C3CD"/>
                </a:solidFill>
                <a:latin typeface="Aptos"/>
                <a:ea typeface="Aptos"/>
                <a:cs typeface="Aptos"/>
              </a:rPr>
              <a:t>Очередь сообщений для долгих задач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0D7CD99-A30E-45AC-A43D-1DB6914195D9}"/>
              </a:ext>
            </a:extLst>
          </p:cNvPr>
          <p:cNvSpPr>
            <a:spLocks noGrp="1"/>
          </p:cNvSpPr>
          <p:nvPr/>
        </p:nvSpPr>
        <p:spPr>
          <a:xfrm>
            <a:off x="5657850" y="2581275"/>
            <a:ext cx="304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025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FF91D4B-9EEB-41C5-A1D5-BD706844267A}"/>
              </a:ext>
            </a:extLst>
          </p:cNvPr>
          <p:cNvSpPr>
            <a:spLocks noGrp="1"/>
          </p:cNvSpPr>
          <p:nvPr/>
        </p:nvSpPr>
        <p:spPr>
          <a:xfrm>
            <a:off x="6019800" y="2238375"/>
            <a:ext cx="2266950" cy="1028700"/>
          </a:xfrm>
          <a:prstGeom prst="rect">
            <a:avLst/>
          </a:prstGeom>
          <a:solidFill>
            <a:srgbClr val="17232E"/>
          </a:solidFill>
          <a:ln w="9525">
            <a:solidFill>
              <a:srgbClr val="395062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3CDE76B-A5F8-4039-9B81-78F3F7021947}"/>
              </a:ext>
            </a:extLst>
          </p:cNvPr>
          <p:cNvSpPr>
            <a:spLocks noGrp="1"/>
          </p:cNvSpPr>
          <p:nvPr/>
        </p:nvSpPr>
        <p:spPr>
          <a:xfrm>
            <a:off x="6191250" y="2428875"/>
            <a:ext cx="400050" cy="400050"/>
          </a:xfrm>
          <a:prstGeom prst="rect">
            <a:avLst/>
          </a:prstGeom>
          <a:solidFill>
            <a:srgbClr val="62D3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52251d24ea074df0"/>
              </a:ext>
            </a:extLst>
          </a:blip>
          <a:stretch/>
        </p:blipFill>
        <p:spPr>
          <a:xfrm>
            <a:off x="6296025" y="2533650"/>
            <a:ext cx="190500" cy="190500"/>
          </a:xfrm>
          <a:prstGeom prst="rect">
            <a:avLst/>
          </a:prstGeom>
        </p:spPr>
      </p:pic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748E57C-9AD4-4A19-965B-5A51E5E67458}"/>
              </a:ext>
            </a:extLst>
          </p:cNvPr>
          <p:cNvSpPr>
            <a:spLocks noGrp="1"/>
          </p:cNvSpPr>
          <p:nvPr/>
        </p:nvSpPr>
        <p:spPr>
          <a:xfrm>
            <a:off x="6724650" y="2409825"/>
            <a:ext cx="1409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Worker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7BF8F42-FBB6-43D2-941F-40EC48A3A645}"/>
              </a:ext>
            </a:extLst>
          </p:cNvPr>
          <p:cNvSpPr>
            <a:spLocks noGrp="1"/>
          </p:cNvSpPr>
          <p:nvPr/>
        </p:nvSpPr>
        <p:spPr>
          <a:xfrm>
            <a:off x="6724650" y="2695575"/>
            <a:ext cx="14097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938" b="0">
                <a:solidFill>
                  <a:srgbClr val="B7C3C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7C3CD"/>
                </a:solidFill>
                <a:latin typeface="Aptos"/>
                <a:ea typeface="Aptos"/>
                <a:cs typeface="Aptos"/>
              </a:rPr>
              <a:t>Забирает задачу и выполняет этапы анализа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D3EA0DF-712E-4A5F-BBFE-57C1070F1CF2}"/>
              </a:ext>
            </a:extLst>
          </p:cNvPr>
          <p:cNvSpPr>
            <a:spLocks noGrp="1"/>
          </p:cNvSpPr>
          <p:nvPr/>
        </p:nvSpPr>
        <p:spPr>
          <a:xfrm>
            <a:off x="8362950" y="2581275"/>
            <a:ext cx="304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025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36CDEE3-55A0-42B1-AB89-F152A9F7B6B2}"/>
              </a:ext>
            </a:extLst>
          </p:cNvPr>
          <p:cNvSpPr>
            <a:spLocks noGrp="1"/>
          </p:cNvSpPr>
          <p:nvPr/>
        </p:nvSpPr>
        <p:spPr>
          <a:xfrm>
            <a:off x="8724900" y="2238375"/>
            <a:ext cx="2266950" cy="1028700"/>
          </a:xfrm>
          <a:prstGeom prst="rect">
            <a:avLst/>
          </a:prstGeom>
          <a:solidFill>
            <a:srgbClr val="17232E"/>
          </a:solidFill>
          <a:ln w="9525">
            <a:solidFill>
              <a:srgbClr val="395062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48D4358A-E497-43BC-97FA-7D97F07E712C}"/>
              </a:ext>
            </a:extLst>
          </p:cNvPr>
          <p:cNvSpPr>
            <a:spLocks noGrp="1"/>
          </p:cNvSpPr>
          <p:nvPr/>
        </p:nvSpPr>
        <p:spPr>
          <a:xfrm>
            <a:off x="8896350" y="2428875"/>
            <a:ext cx="400050" cy="400050"/>
          </a:xfrm>
          <a:prstGeom prst="rect">
            <a:avLst/>
          </a:prstGeom>
          <a:solidFill>
            <a:srgbClr val="A78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e8d4cc488f244340"/>
              </a:ext>
            </a:extLst>
          </a:blip>
          <a:stretch/>
        </p:blipFill>
        <p:spPr>
          <a:xfrm>
            <a:off x="9001125" y="2533650"/>
            <a:ext cx="190500" cy="190500"/>
          </a:xfrm>
          <a:prstGeom prst="rect">
            <a:avLst/>
          </a:prstGeom>
        </p:spPr>
      </p:pic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20A1EA0A-38ED-4F60-B2F8-D16A4F14C962}"/>
              </a:ext>
            </a:extLst>
          </p:cNvPr>
          <p:cNvSpPr>
            <a:spLocks noGrp="1"/>
          </p:cNvSpPr>
          <p:nvPr/>
        </p:nvSpPr>
        <p:spPr>
          <a:xfrm>
            <a:off x="9429750" y="2409825"/>
            <a:ext cx="1409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8950264-6FFC-4225-B240-91C9B6EB0DCA}"/>
              </a:ext>
            </a:extLst>
          </p:cNvPr>
          <p:cNvSpPr>
            <a:spLocks noGrp="1"/>
          </p:cNvSpPr>
          <p:nvPr/>
        </p:nvSpPr>
        <p:spPr>
          <a:xfrm>
            <a:off x="9429750" y="2695575"/>
            <a:ext cx="14097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938" b="0">
                <a:solidFill>
                  <a:srgbClr val="B7C3C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7C3CD"/>
                </a:solidFill>
                <a:latin typeface="Aptos"/>
                <a:ea typeface="Aptos"/>
                <a:cs typeface="Aptos"/>
              </a:rPr>
              <a:t>Готовый результат и PDF-отчет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60962D0A-88B3-4317-98EC-9472FF3056F8}"/>
              </a:ext>
            </a:extLst>
          </p:cNvPr>
          <p:cNvSpPr>
            <a:spLocks noGrp="1"/>
          </p:cNvSpPr>
          <p:nvPr/>
        </p:nvSpPr>
        <p:spPr>
          <a:xfrm>
            <a:off x="609600" y="3848100"/>
            <a:ext cx="4819650" cy="1885950"/>
          </a:xfrm>
          <a:prstGeom prst="rect">
            <a:avLst/>
          </a:prstGeom>
          <a:solidFill>
            <a:srgbClr val="17232E"/>
          </a:solidFill>
          <a:ln w="9525">
            <a:solidFill>
              <a:srgbClr val="395062"/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7FA68E09-C956-4E76-AE22-6C7CF6AD4B3B}"/>
              </a:ext>
            </a:extLst>
          </p:cNvPr>
          <p:cNvSpPr>
            <a:spLocks noGrp="1"/>
          </p:cNvSpPr>
          <p:nvPr/>
        </p:nvSpPr>
        <p:spPr>
          <a:xfrm>
            <a:off x="838200" y="405765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Зачем нужен Job?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12C73DC1-CFA7-4CCB-80CF-ED520002DA27}"/>
              </a:ext>
            </a:extLst>
          </p:cNvPr>
          <p:cNvSpPr>
            <a:spLocks noGrp="1"/>
          </p:cNvSpPr>
          <p:nvPr/>
        </p:nvSpPr>
        <p:spPr>
          <a:xfrm>
            <a:off x="876300" y="4543425"/>
            <a:ext cx="66675" cy="66675"/>
          </a:xfrm>
          <a:prstGeom prst="rect">
            <a:avLst/>
          </a:prstGeom>
          <a:solidFill>
            <a:srgbClr val="62D3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9315C288-424D-46C9-94FA-FC39CD4E6DAE}"/>
              </a:ext>
            </a:extLst>
          </p:cNvPr>
          <p:cNvSpPr>
            <a:spLocks noGrp="1"/>
          </p:cNvSpPr>
          <p:nvPr/>
        </p:nvSpPr>
        <p:spPr>
          <a:xfrm>
            <a:off x="1028700" y="44767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020" b="0">
                <a:solidFill>
                  <a:srgbClr val="B7C3CD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B7C3CD"/>
                </a:solidFill>
                <a:latin typeface="Aptos"/>
                <a:ea typeface="Aptos"/>
                <a:cs typeface="Aptos"/>
              </a:rPr>
              <a:t>не заставляет пользователя ждать долгий HTTP-запрос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CB14920A-8A8B-41D3-B7E2-CF5FE7F9B39F}"/>
              </a:ext>
            </a:extLst>
          </p:cNvPr>
          <p:cNvSpPr>
            <a:spLocks noGrp="1"/>
          </p:cNvSpPr>
          <p:nvPr/>
        </p:nvSpPr>
        <p:spPr>
          <a:xfrm>
            <a:off x="876300" y="4810125"/>
            <a:ext cx="66675" cy="66675"/>
          </a:xfrm>
          <a:prstGeom prst="rect">
            <a:avLst/>
          </a:prstGeom>
          <a:solidFill>
            <a:srgbClr val="62D3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09480954-2E9F-40EB-BC05-72943417048B}"/>
              </a:ext>
            </a:extLst>
          </p:cNvPr>
          <p:cNvSpPr>
            <a:spLocks noGrp="1"/>
          </p:cNvSpPr>
          <p:nvPr/>
        </p:nvSpPr>
        <p:spPr>
          <a:xfrm>
            <a:off x="1028700" y="47434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020" b="0">
                <a:solidFill>
                  <a:srgbClr val="B7C3CD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B7C3CD"/>
                </a:solidFill>
                <a:latin typeface="Aptos"/>
                <a:ea typeface="Aptos"/>
                <a:cs typeface="Aptos"/>
              </a:rPr>
              <a:t>хранит прогресс и этап обработки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A0AA08B2-361E-4CAA-8540-2CD063C02656}"/>
              </a:ext>
            </a:extLst>
          </p:cNvPr>
          <p:cNvSpPr>
            <a:spLocks noGrp="1"/>
          </p:cNvSpPr>
          <p:nvPr/>
        </p:nvSpPr>
        <p:spPr>
          <a:xfrm>
            <a:off x="876300" y="5076825"/>
            <a:ext cx="66675" cy="66675"/>
          </a:xfrm>
          <a:prstGeom prst="rect">
            <a:avLst/>
          </a:prstGeom>
          <a:solidFill>
            <a:srgbClr val="62D3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EE9D8C19-6196-450B-A1F6-E3281D9CE6C4}"/>
              </a:ext>
            </a:extLst>
          </p:cNvPr>
          <p:cNvSpPr>
            <a:spLocks noGrp="1"/>
          </p:cNvSpPr>
          <p:nvPr/>
        </p:nvSpPr>
        <p:spPr>
          <a:xfrm>
            <a:off x="1028700" y="50101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020" b="0">
                <a:solidFill>
                  <a:srgbClr val="B7C3CD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B7C3CD"/>
                </a:solidFill>
                <a:latin typeface="Aptos"/>
                <a:ea typeface="Aptos"/>
                <a:cs typeface="Aptos"/>
              </a:rPr>
              <a:t>позволяет увидеть ошибку на конкретном шаге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B91BA15E-7352-4FD4-99F7-48C4A0ABE3F9}"/>
              </a:ext>
            </a:extLst>
          </p:cNvPr>
          <p:cNvSpPr>
            <a:spLocks noGrp="1"/>
          </p:cNvSpPr>
          <p:nvPr/>
        </p:nvSpPr>
        <p:spPr>
          <a:xfrm>
            <a:off x="876300" y="5343525"/>
            <a:ext cx="66675" cy="66675"/>
          </a:xfrm>
          <a:prstGeom prst="rect">
            <a:avLst/>
          </a:prstGeom>
          <a:solidFill>
            <a:srgbClr val="62D3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FCEC94B7-FB3C-4602-A9BC-A5DCA1BF2187}"/>
              </a:ext>
            </a:extLst>
          </p:cNvPr>
          <p:cNvSpPr>
            <a:spLocks noGrp="1"/>
          </p:cNvSpPr>
          <p:nvPr/>
        </p:nvSpPr>
        <p:spPr>
          <a:xfrm>
            <a:off x="1028700" y="5276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020" b="0">
                <a:solidFill>
                  <a:srgbClr val="B7C3CD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B7C3CD"/>
                </a:solidFill>
                <a:latin typeface="Aptos"/>
                <a:ea typeface="Aptos"/>
                <a:cs typeface="Aptos"/>
              </a:rPr>
              <a:t>дает frontend простой способ опрашивать статус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E50E457A-1378-4B6D-800B-2C564D66D00C}"/>
              </a:ext>
            </a:extLst>
          </p:cNvPr>
          <p:cNvSpPr>
            <a:spLocks noGrp="1"/>
          </p:cNvSpPr>
          <p:nvPr/>
        </p:nvSpPr>
        <p:spPr>
          <a:xfrm>
            <a:off x="5924550" y="3848100"/>
            <a:ext cx="5905500" cy="2324100"/>
          </a:xfrm>
          <a:prstGeom prst="rect">
            <a:avLst/>
          </a:prstGeom>
          <a:solidFill>
            <a:srgbClr val="17232E"/>
          </a:solidFill>
          <a:ln w="9525">
            <a:solidFill>
              <a:srgbClr val="395062"/>
            </a:solidFill>
            <a:prstDash val="solid"/>
          </a:ln>
        </p:spPr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4F71D48B-2D44-492B-BEDB-C095D8D401D7}"/>
              </a:ext>
            </a:extLst>
          </p:cNvPr>
          <p:cNvSpPr>
            <a:spLocks noGrp="1"/>
          </p:cNvSpPr>
          <p:nvPr/>
        </p:nvSpPr>
        <p:spPr>
          <a:xfrm>
            <a:off x="6153150" y="405765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Состояния Job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225E1768-8EEF-4FB1-B3A1-47F302D2FE43}"/>
              </a:ext>
            </a:extLst>
          </p:cNvPr>
          <p:cNvSpPr>
            <a:spLocks noGrp="1"/>
          </p:cNvSpPr>
          <p:nvPr/>
        </p:nvSpPr>
        <p:spPr>
          <a:xfrm>
            <a:off x="6153150" y="4495800"/>
            <a:ext cx="2476500" cy="400050"/>
          </a:xfrm>
          <a:prstGeom prst="rect">
            <a:avLst/>
          </a:prstGeom>
          <a:solidFill>
            <a:srgbClr val="1F2E3A"/>
          </a:solidFill>
          <a:ln w="9525">
            <a:solidFill>
              <a:srgbClr val="395062"/>
            </a:solidFill>
            <a:prstDash val="solid"/>
          </a:ln>
        </p:spPr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5F2C0962-322A-4DF1-A8A0-52DAA337CE70}"/>
              </a:ext>
            </a:extLst>
          </p:cNvPr>
          <p:cNvSpPr>
            <a:spLocks noGrp="1"/>
          </p:cNvSpPr>
          <p:nvPr/>
        </p:nvSpPr>
        <p:spPr>
          <a:xfrm>
            <a:off x="6267450" y="4629150"/>
            <a:ext cx="114300" cy="114300"/>
          </a:xfrm>
          <a:prstGeom prst="rect">
            <a:avLst/>
          </a:prstGeom>
          <a:solidFill>
            <a:srgbClr val="F2B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95B68F37-4A70-4C3C-AB85-B0BF89F21979}"/>
              </a:ext>
            </a:extLst>
          </p:cNvPr>
          <p:cNvSpPr>
            <a:spLocks noGrp="1"/>
          </p:cNvSpPr>
          <p:nvPr/>
        </p:nvSpPr>
        <p:spPr>
          <a:xfrm>
            <a:off x="6477000" y="4572000"/>
            <a:ext cx="1219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795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QUEUED</a:t>
            </a: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0341C060-17E4-426C-9CF5-130377FF4057}"/>
              </a:ext>
            </a:extLst>
          </p:cNvPr>
          <p:cNvSpPr>
            <a:spLocks noGrp="1"/>
          </p:cNvSpPr>
          <p:nvPr/>
        </p:nvSpPr>
        <p:spPr>
          <a:xfrm>
            <a:off x="7753350" y="4572000"/>
            <a:ext cx="742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765" b="0">
                <a:solidFill>
                  <a:srgbClr val="B7C3CD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B7C3CD"/>
                </a:solidFill>
                <a:latin typeface="Aptos"/>
                <a:ea typeface="Aptos"/>
                <a:cs typeface="Aptos"/>
              </a:rPr>
              <a:t>ждет обработки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0EE0713B-3DF4-473F-BED9-E3F70607E17B}"/>
              </a:ext>
            </a:extLst>
          </p:cNvPr>
          <p:cNvSpPr>
            <a:spLocks noGrp="1"/>
          </p:cNvSpPr>
          <p:nvPr/>
        </p:nvSpPr>
        <p:spPr>
          <a:xfrm>
            <a:off x="6153150" y="4905375"/>
            <a:ext cx="2476500" cy="400050"/>
          </a:xfrm>
          <a:prstGeom prst="rect">
            <a:avLst/>
          </a:prstGeom>
          <a:solidFill>
            <a:srgbClr val="1F2E3A"/>
          </a:solidFill>
          <a:ln w="9525">
            <a:solidFill>
              <a:srgbClr val="395062"/>
            </a:solidFill>
            <a:prstDash val="solid"/>
          </a:ln>
        </p:spPr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F0735612-3C5C-45A9-8491-0F053522D173}"/>
              </a:ext>
            </a:extLst>
          </p:cNvPr>
          <p:cNvSpPr>
            <a:spLocks noGrp="1"/>
          </p:cNvSpPr>
          <p:nvPr/>
        </p:nvSpPr>
        <p:spPr>
          <a:xfrm>
            <a:off x="6267450" y="5038725"/>
            <a:ext cx="114300" cy="114300"/>
          </a:xfrm>
          <a:prstGeom prst="rect">
            <a:avLst/>
          </a:prstGeom>
          <a:solidFill>
            <a:srgbClr val="4FB3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BA6FF1CD-2775-4DF1-892F-40018DC585F1}"/>
              </a:ext>
            </a:extLst>
          </p:cNvPr>
          <p:cNvSpPr>
            <a:spLocks noGrp="1"/>
          </p:cNvSpPr>
          <p:nvPr/>
        </p:nvSpPr>
        <p:spPr>
          <a:xfrm>
            <a:off x="6477000" y="4981575"/>
            <a:ext cx="1219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795" b="1">
                <a:solidFill>
                  <a:srgbClr val="4FB3D9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4FB3D9"/>
                </a:solidFill>
                <a:latin typeface="Aptos"/>
                <a:ea typeface="Aptos"/>
                <a:cs typeface="Aptos"/>
              </a:rPr>
              <a:t>RUNNING_ASR</a:t>
            </a: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B44EBBB5-3D36-4731-AFF2-1478D77FD47B}"/>
              </a:ext>
            </a:extLst>
          </p:cNvPr>
          <p:cNvSpPr>
            <a:spLocks noGrp="1"/>
          </p:cNvSpPr>
          <p:nvPr/>
        </p:nvSpPr>
        <p:spPr>
          <a:xfrm>
            <a:off x="7753350" y="4981575"/>
            <a:ext cx="742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765" b="0">
                <a:solidFill>
                  <a:srgbClr val="B7C3CD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B7C3CD"/>
                </a:solidFill>
                <a:latin typeface="Aptos"/>
                <a:ea typeface="Aptos"/>
                <a:cs typeface="Aptos"/>
              </a:rPr>
              <a:t>аудио → текст</a:t>
            </a: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FCF8D59F-591B-469F-95A0-96B713D0127D}"/>
              </a:ext>
            </a:extLst>
          </p:cNvPr>
          <p:cNvSpPr>
            <a:spLocks noGrp="1"/>
          </p:cNvSpPr>
          <p:nvPr/>
        </p:nvSpPr>
        <p:spPr>
          <a:xfrm>
            <a:off x="6153150" y="5314950"/>
            <a:ext cx="2476500" cy="400050"/>
          </a:xfrm>
          <a:prstGeom prst="rect">
            <a:avLst/>
          </a:prstGeom>
          <a:solidFill>
            <a:srgbClr val="1F2E3A"/>
          </a:solidFill>
          <a:ln w="9525">
            <a:solidFill>
              <a:srgbClr val="395062"/>
            </a:solidFill>
            <a:prstDash val="solid"/>
          </a:ln>
        </p:spPr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48FA77A7-6C45-4A5D-A1D4-C11DE78D5E51}"/>
              </a:ext>
            </a:extLst>
          </p:cNvPr>
          <p:cNvSpPr>
            <a:spLocks noGrp="1"/>
          </p:cNvSpPr>
          <p:nvPr/>
        </p:nvSpPr>
        <p:spPr>
          <a:xfrm>
            <a:off x="6267450" y="5448300"/>
            <a:ext cx="114300" cy="114300"/>
          </a:xfrm>
          <a:prstGeom prst="rect">
            <a:avLst/>
          </a:prstGeom>
          <a:solidFill>
            <a:srgbClr val="A78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29A0887D-6C4B-4EF0-AFBD-5D93F0C941B3}"/>
              </a:ext>
            </a:extLst>
          </p:cNvPr>
          <p:cNvSpPr>
            <a:spLocks noGrp="1"/>
          </p:cNvSpPr>
          <p:nvPr/>
        </p:nvSpPr>
        <p:spPr>
          <a:xfrm>
            <a:off x="6477000" y="5391150"/>
            <a:ext cx="1219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795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RUNNING_NLP</a:t>
            </a: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202785BE-71A6-40B9-8CEA-911CFB9E00ED}"/>
              </a:ext>
            </a:extLst>
          </p:cNvPr>
          <p:cNvSpPr>
            <a:spLocks noGrp="1"/>
          </p:cNvSpPr>
          <p:nvPr/>
        </p:nvSpPr>
        <p:spPr>
          <a:xfrm>
            <a:off x="7753350" y="5391150"/>
            <a:ext cx="742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765" b="0">
                <a:solidFill>
                  <a:srgbClr val="B7C3CD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B7C3CD"/>
                </a:solidFill>
                <a:latin typeface="Aptos"/>
                <a:ea typeface="Aptos"/>
                <a:cs typeface="Aptos"/>
              </a:rPr>
              <a:t>анализ текста</a:t>
            </a:r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A9A4DAD9-9521-4020-8D22-EA86DCDB161B}"/>
              </a:ext>
            </a:extLst>
          </p:cNvPr>
          <p:cNvSpPr>
            <a:spLocks noGrp="1"/>
          </p:cNvSpPr>
          <p:nvPr/>
        </p:nvSpPr>
        <p:spPr>
          <a:xfrm>
            <a:off x="6153150" y="5724525"/>
            <a:ext cx="2476500" cy="400050"/>
          </a:xfrm>
          <a:prstGeom prst="rect">
            <a:avLst/>
          </a:prstGeom>
          <a:solidFill>
            <a:srgbClr val="1F2E3A"/>
          </a:solidFill>
          <a:ln w="9525">
            <a:solidFill>
              <a:srgbClr val="395062"/>
            </a:solidFill>
            <a:prstDash val="solid"/>
          </a:ln>
        </p:spPr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25C70BE2-83F0-408E-A2DC-84488A8B8F5F}"/>
              </a:ext>
            </a:extLst>
          </p:cNvPr>
          <p:cNvSpPr>
            <a:spLocks noGrp="1"/>
          </p:cNvSpPr>
          <p:nvPr/>
        </p:nvSpPr>
        <p:spPr>
          <a:xfrm>
            <a:off x="6267450" y="5857875"/>
            <a:ext cx="114300" cy="114300"/>
          </a:xfrm>
          <a:prstGeom prst="rect">
            <a:avLst/>
          </a:prstGeom>
          <a:solidFill>
            <a:srgbClr val="62D3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91C41FF1-DF60-4ACE-84AE-D790E901BC82}"/>
              </a:ext>
            </a:extLst>
          </p:cNvPr>
          <p:cNvSpPr>
            <a:spLocks noGrp="1"/>
          </p:cNvSpPr>
          <p:nvPr/>
        </p:nvSpPr>
        <p:spPr>
          <a:xfrm>
            <a:off x="6477000" y="5800725"/>
            <a:ext cx="1219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795" b="1">
                <a:solidFill>
                  <a:srgbClr val="62D39A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62D39A"/>
                </a:solidFill>
                <a:latin typeface="Aptos"/>
                <a:ea typeface="Aptos"/>
                <a:cs typeface="Aptos"/>
              </a:rPr>
              <a:t>RUNNING_VOICE</a:t>
            </a:r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55047CC6-39F5-44C2-A8A2-78EB2D3F8488}"/>
              </a:ext>
            </a:extLst>
          </p:cNvPr>
          <p:cNvSpPr>
            <a:spLocks noGrp="1"/>
          </p:cNvSpPr>
          <p:nvPr/>
        </p:nvSpPr>
        <p:spPr>
          <a:xfrm>
            <a:off x="7753350" y="5800725"/>
            <a:ext cx="742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765" b="0">
                <a:solidFill>
                  <a:srgbClr val="B7C3CD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B7C3CD"/>
                </a:solidFill>
                <a:latin typeface="Aptos"/>
                <a:ea typeface="Aptos"/>
                <a:cs typeface="Aptos"/>
              </a:rPr>
              <a:t>голосовые метрики</a:t>
            </a:r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94FA998F-6927-4005-9F8F-569FD470C044}"/>
              </a:ext>
            </a:extLst>
          </p:cNvPr>
          <p:cNvSpPr>
            <a:spLocks noGrp="1"/>
          </p:cNvSpPr>
          <p:nvPr/>
        </p:nvSpPr>
        <p:spPr>
          <a:xfrm>
            <a:off x="8858250" y="4495800"/>
            <a:ext cx="2476500" cy="400050"/>
          </a:xfrm>
          <a:prstGeom prst="rect">
            <a:avLst/>
          </a:prstGeom>
          <a:solidFill>
            <a:srgbClr val="1F2E3A"/>
          </a:solidFill>
          <a:ln w="9525">
            <a:solidFill>
              <a:srgbClr val="395062"/>
            </a:solidFill>
            <a:prstDash val="solid"/>
          </a:ln>
        </p:spPr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71DEFA90-C5D0-4B72-B972-61B370D0E535}"/>
              </a:ext>
            </a:extLst>
          </p:cNvPr>
          <p:cNvSpPr>
            <a:spLocks noGrp="1"/>
          </p:cNvSpPr>
          <p:nvPr/>
        </p:nvSpPr>
        <p:spPr>
          <a:xfrm>
            <a:off x="8972550" y="4629150"/>
            <a:ext cx="114300" cy="114300"/>
          </a:xfrm>
          <a:prstGeom prst="rect">
            <a:avLst/>
          </a:prstGeom>
          <a:solidFill>
            <a:srgbClr val="4FB3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52644DCB-5BAC-46A8-B1AB-F55A0890FA07}"/>
              </a:ext>
            </a:extLst>
          </p:cNvPr>
          <p:cNvSpPr>
            <a:spLocks noGrp="1"/>
          </p:cNvSpPr>
          <p:nvPr/>
        </p:nvSpPr>
        <p:spPr>
          <a:xfrm>
            <a:off x="9182100" y="4572000"/>
            <a:ext cx="1219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795" b="1">
                <a:solidFill>
                  <a:srgbClr val="4FB3D9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4FB3D9"/>
                </a:solidFill>
                <a:latin typeface="Aptos"/>
                <a:ea typeface="Aptos"/>
                <a:cs typeface="Aptos"/>
              </a:rPr>
              <a:t>RUNNING_REPORT</a:t>
            </a:r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F1210C3E-5B4A-4B01-9CE8-9282B96A4045}"/>
              </a:ext>
            </a:extLst>
          </p:cNvPr>
          <p:cNvSpPr>
            <a:spLocks noGrp="1"/>
          </p:cNvSpPr>
          <p:nvPr/>
        </p:nvSpPr>
        <p:spPr>
          <a:xfrm>
            <a:off x="10458450" y="4572000"/>
            <a:ext cx="742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765" b="0">
                <a:solidFill>
                  <a:srgbClr val="B7C3CD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B7C3CD"/>
                </a:solidFill>
                <a:latin typeface="Aptos"/>
                <a:ea typeface="Aptos"/>
                <a:cs typeface="Aptos"/>
              </a:rPr>
              <a:t>сборка отчета</a:t>
            </a:r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FCB33F2A-C77C-44FF-BB03-937F7FD35137}"/>
              </a:ext>
            </a:extLst>
          </p:cNvPr>
          <p:cNvSpPr>
            <a:spLocks noGrp="1"/>
          </p:cNvSpPr>
          <p:nvPr/>
        </p:nvSpPr>
        <p:spPr>
          <a:xfrm>
            <a:off x="8858250" y="4905375"/>
            <a:ext cx="2476500" cy="400050"/>
          </a:xfrm>
          <a:prstGeom prst="rect">
            <a:avLst/>
          </a:prstGeom>
          <a:solidFill>
            <a:srgbClr val="1F2E3A"/>
          </a:solidFill>
          <a:ln w="9525">
            <a:solidFill>
              <a:srgbClr val="395062"/>
            </a:solidFill>
            <a:prstDash val="solid"/>
          </a:ln>
        </p:spPr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F18E9D04-037E-46DD-943A-38BA0E3C7E1D}"/>
              </a:ext>
            </a:extLst>
          </p:cNvPr>
          <p:cNvSpPr>
            <a:spLocks noGrp="1"/>
          </p:cNvSpPr>
          <p:nvPr/>
        </p:nvSpPr>
        <p:spPr>
          <a:xfrm>
            <a:off x="8972550" y="5038725"/>
            <a:ext cx="114300" cy="114300"/>
          </a:xfrm>
          <a:prstGeom prst="rect">
            <a:avLst/>
          </a:prstGeom>
          <a:solidFill>
            <a:srgbClr val="62D3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A5843A40-50ED-4245-9928-E5729F950443}"/>
              </a:ext>
            </a:extLst>
          </p:cNvPr>
          <p:cNvSpPr>
            <a:spLocks noGrp="1"/>
          </p:cNvSpPr>
          <p:nvPr/>
        </p:nvSpPr>
        <p:spPr>
          <a:xfrm>
            <a:off x="9182100" y="4981575"/>
            <a:ext cx="1219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795" b="1">
                <a:solidFill>
                  <a:srgbClr val="62D39A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62D39A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63" name="Прямоугольник 62">
            <a:extLst>
              <a:ext uri="{FF2B5EF4-FFF2-40B4-BE49-F238E27FC236}">
                <a16:creationId xmlns:a16="http://schemas.microsoft.com/office/drawing/2014/main" id="{A2F46549-6F2D-487A-9B35-31444E3F8A2A}"/>
              </a:ext>
            </a:extLst>
          </p:cNvPr>
          <p:cNvSpPr>
            <a:spLocks noGrp="1"/>
          </p:cNvSpPr>
          <p:nvPr/>
        </p:nvSpPr>
        <p:spPr>
          <a:xfrm>
            <a:off x="10458450" y="4981575"/>
            <a:ext cx="742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765" b="0">
                <a:solidFill>
                  <a:srgbClr val="B7C3CD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B7C3CD"/>
                </a:solidFill>
                <a:latin typeface="Aptos"/>
                <a:ea typeface="Aptos"/>
                <a:cs typeface="Aptos"/>
              </a:rPr>
              <a:t>успешно готово</a:t>
            </a:r>
          </a:p>
        </p:txBody>
      </p: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37C8318B-4799-4C07-8091-3A24F236B4C7}"/>
              </a:ext>
            </a:extLst>
          </p:cNvPr>
          <p:cNvSpPr>
            <a:spLocks noGrp="1"/>
          </p:cNvSpPr>
          <p:nvPr/>
        </p:nvSpPr>
        <p:spPr>
          <a:xfrm>
            <a:off x="8858250" y="5314950"/>
            <a:ext cx="2476500" cy="400050"/>
          </a:xfrm>
          <a:prstGeom prst="rect">
            <a:avLst/>
          </a:prstGeom>
          <a:solidFill>
            <a:srgbClr val="1F2E3A"/>
          </a:solidFill>
          <a:ln w="9525">
            <a:solidFill>
              <a:srgbClr val="395062"/>
            </a:solidFill>
            <a:prstDash val="solid"/>
          </a:ln>
        </p:spPr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0138CD6B-5BC3-4CD1-A4D4-64884AAAB34F}"/>
              </a:ext>
            </a:extLst>
          </p:cNvPr>
          <p:cNvSpPr>
            <a:spLocks noGrp="1"/>
          </p:cNvSpPr>
          <p:nvPr/>
        </p:nvSpPr>
        <p:spPr>
          <a:xfrm>
            <a:off x="8972550" y="5448300"/>
            <a:ext cx="114300" cy="114300"/>
          </a:xfrm>
          <a:prstGeom prst="rect">
            <a:avLst/>
          </a:prstGeom>
          <a:solidFill>
            <a:srgbClr val="F970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Прямоугольник 65">
            <a:extLst>
              <a:ext uri="{FF2B5EF4-FFF2-40B4-BE49-F238E27FC236}">
                <a16:creationId xmlns:a16="http://schemas.microsoft.com/office/drawing/2014/main" id="{CA3B19CA-E22E-412E-9214-A1BAB8E6350E}"/>
              </a:ext>
            </a:extLst>
          </p:cNvPr>
          <p:cNvSpPr>
            <a:spLocks noGrp="1"/>
          </p:cNvSpPr>
          <p:nvPr/>
        </p:nvSpPr>
        <p:spPr>
          <a:xfrm>
            <a:off x="9182100" y="5391150"/>
            <a:ext cx="1219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795" b="1">
                <a:solidFill>
                  <a:srgbClr val="F97066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F97066"/>
                </a:solidFill>
                <a:latin typeface="Aptos"/>
                <a:ea typeface="Aptos"/>
                <a:cs typeface="Aptos"/>
              </a:rPr>
              <a:t>FAILED</a:t>
            </a:r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90D935A3-F7C2-470D-A1D1-F9E020C3D533}"/>
              </a:ext>
            </a:extLst>
          </p:cNvPr>
          <p:cNvSpPr>
            <a:spLocks noGrp="1"/>
          </p:cNvSpPr>
          <p:nvPr/>
        </p:nvSpPr>
        <p:spPr>
          <a:xfrm>
            <a:off x="10458450" y="5391150"/>
            <a:ext cx="742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765" b="0">
                <a:solidFill>
                  <a:srgbClr val="B7C3CD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B7C3CD"/>
                </a:solidFill>
                <a:latin typeface="Aptos"/>
                <a:ea typeface="Aptos"/>
                <a:cs typeface="Aptos"/>
              </a:rPr>
              <a:t>ошибка этапа</a:t>
            </a:r>
          </a:p>
        </p:txBody>
      </p: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id="{962C69B8-15DA-4BB5-9104-4747637CDEA2}"/>
              </a:ext>
            </a:extLst>
          </p:cNvPr>
          <p:cNvSpPr>
            <a:spLocks noGrp="1"/>
          </p:cNvSpPr>
          <p:nvPr/>
        </p:nvSpPr>
        <p:spPr>
          <a:xfrm>
            <a:off x="838200" y="6191250"/>
            <a:ext cx="952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B7C3C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7C3CD"/>
                </a:solidFill>
                <a:latin typeface="Aptos"/>
                <a:ea typeface="Aptos"/>
                <a:cs typeface="Aptos"/>
              </a:rPr>
              <a:t>Frontend получает не “ожидание”, а понятный жизненный цикл задачи: создана → выполняется → готова или ошибка.</a:t>
            </a:r>
          </a:p>
        </p:txBody>
      </p:sp>
      <p:sp>
        <p:nvSpPr>
          <p:cNvPr id="69" name="Прямоугольник 68">
            <a:extLst>
              <a:ext uri="{FF2B5EF4-FFF2-40B4-BE49-F238E27FC236}">
                <a16:creationId xmlns:a16="http://schemas.microsoft.com/office/drawing/2014/main" id="{5887F430-F212-4492-8906-53626AB43FCC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514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900" b="0">
                <a:solidFill>
                  <a:srgbClr val="B7C3C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3CD"/>
                </a:solidFill>
                <a:latin typeface="Aptos"/>
                <a:ea typeface="Aptos"/>
                <a:cs typeface="Aptos"/>
              </a:rPr>
              <a:t>2 / 2</a:t>
            </a:r>
          </a:p>
        </p:txBody>
      </p:sp>
    </p:spTree>
    <p:extLst>
      <p:ext uri="{BB962C8B-B14F-4D97-AF65-F5344CB8AC3E}">
        <p14:creationId xmlns:p14="http://schemas.microsoft.com/office/powerpoint/2010/main" val="1374536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</Words>
  <Application>Microsoft Office PowerPoint</Application>
  <DocSecurity>0</DocSecurity>
  <PresentationFormat>Широкоэкранный</PresentationFormat>
  <Paragraphs>60</Paragraphs>
  <Slides>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Calibri</vt:lpstr>
      <vt:lpstr>ChatGPT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user</cp:lastModifiedBy>
  <cp:revision>1</cp:revision>
  <dcterms:created xsi:type="dcterms:W3CDTF">2026-05-13T06:15:16Z</dcterms:created>
  <dcterms:modified xsi:type="dcterms:W3CDTF">2026-05-13T06:20:14Z</dcterms:modified>
</cp:coreProperties>
</file>